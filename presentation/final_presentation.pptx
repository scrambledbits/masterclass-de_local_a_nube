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6" r:id="rId18"/>
    <p:sldId id="267" r:id="rId19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[PORTADA - 30s]</a:t>
            </a:r>
          </a:p>
          <a:p>
            <a:r>
              <a:t>Bienvenidos. Hoy recorremos el camino que separa 'esta en mi computadora' de 'esta en produccion'.</a:t>
            </a:r>
          </a:p>
          <a:p>
            <a:r>
              <a:t>No teoria. Demo real. Codigo real. Cloud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[EL DOLOR - 3 min]</a:t>
            </a:r>
          </a:p>
          <a:p>
            <a:r>
              <a:t>Preguntar a la audiencia: cuantos han desplegado via FTP o SSH manual?</a:t>
            </a:r>
          </a:p>
          <a:p>
            <a:r>
              <a:t>El dolor es el punto de partida. Sin dolor no hay motivacion para automatizar.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[LA PROMESA - 2 min]</a:t>
            </a:r>
          </a:p>
          <a:p>
            <a:r>
              <a:t>Este es el antes y el despues. No es magia: es automatizacion disciplinada.</a:t>
            </a:r>
          </a:p>
          <a:p>
            <a:r>
              <a:t>El pipeline es el nuevo 'experto': no se enferma, no se equivoca, trabaja a las 3am.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[LA BRECHA - 3 min]</a:t>
            </a:r>
          </a:p>
          <a:p>
            <a:r>
              <a:t>Mostrar la app corriendo en localhost.</a:t>
            </a:r>
          </a:p>
          <a:p>
            <a:r>
              <a:t>Preguntar: quien puede ver esta app ahora mismo? Solo yo.</a:t>
            </a:r>
          </a:p>
          <a:p>
            <a:r>
              <a:t>El abismo entre localhost y produccion es lo que vamos a cruzar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- 5 min]</a:t>
            </a:r>
          </a:p>
          <a:p>
            <a:r>
              <a:t>Mostrar backend.tf: el estado en S3 es la clave. Sin esto, el estado local es un punto de falla.</a:t>
            </a:r>
          </a:p>
          <a:p>
            <a:r>
              <a:t>Mostrar security.tf: el backend SG solo acepta trafico del frontend SG.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[GITHUB ACTIONS - 5 min]</a:t>
            </a:r>
          </a:p>
          <a:p>
            <a:r>
              <a:t>Mostrar el archivo pipeline.yml en el repo.</a:t>
            </a:r>
          </a:p>
          <a:p>
            <a:r>
              <a:t>El 'needs: [infra]' garantiza la secuencia. Job 2 no puede empezar si Job 1 fallo.</a:t>
            </a:r>
          </a:p>
          <a:p>
            <a:r>
              <a:t>Cada paso verde es una garantia.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[EL TRIUNFO - 5 min]</a:t>
            </a:r>
          </a:p>
          <a:p>
            <a:r>
              <a:t>Abrir el navegador con la IP del frontend.</a:t>
            </a:r>
          </a:p>
          <a:p>
            <a:r>
              <a:t>Mostrar que la IP del backend no responde desde el navegador (sin IP publica).</a:t>
            </a:r>
          </a:p>
          <a:p>
            <a:r>
              <a:t>Solo Nginx responde en el puerto 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[EL PUENTE - 3 min]</a:t>
            </a:r>
          </a:p>
          <a:p>
            <a:r>
              <a:t>Los fundamentos no cambian: un git push sigue siendo el disparador.</a:t>
            </a:r>
          </a:p>
          <a:p>
            <a:r>
              <a:t>La diferencia es la orquestacion de lo que corre adentro.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[CIERRE - 2 min]</a:t>
            </a:r>
          </a:p>
          <a:p>
            <a:r>
              <a:t>Dejar el repo en pantalla.</a:t>
            </a:r>
          </a:p>
          <a:p>
            <a:r>
              <a:t>Proxima sesion: Kubernetes y Helm Charts.</a:t>
            </a:r>
          </a:p>
          <a:p>
            <a:r>
              <a:t>Preguntas abiertas.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7708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274320"/>
            <a:ext cx="1645920" cy="1860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280160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BOOTCAMPERU  · 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73152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Cambria"/>
              </a:rPr>
              <a:t>De Código Local a la Nube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766E"/>
                </a:solidFill>
                <a:latin typeface="Cambria"/>
              </a:rPr>
              <a:t>El Camino Profesional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C2410C"/>
                </a:solidFill>
                <a:latin typeface="Calibri"/>
              </a:rPr>
              <a:t>CI/CD con Terraform, Ansible y GitHub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Emilio Castro  ·  Ingeniero de Plataforma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GitHub: @ScrambledBits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26364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v1 · 2026-06-25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2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ANTES  ·  EL DOLOR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¿Como Desplegamos Hoy?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FileZilla: arrastar archivos al servidor uno por uno.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1488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SSH manual: copiar codigo, rezar que no haya conflictos de version.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11296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"En mi computadora funciona." La frase que mas carreras ha terminado.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61104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Un error humano el viernes a las 6 pm puede tumbar produccion entera.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303520"/>
            <a:ext cx="11365992" cy="86868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11000232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2410C"/>
                </a:solidFill>
                <a:latin typeface="Calibri"/>
              </a:rPr>
              <a:t>El problema central: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1000232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El proceso manual no escala, no es reproducible y depende de una sola persona.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3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LA TRANSFORMACION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De Caos Manual a Robot de Despliegue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5486400" cy="3200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920240"/>
            <a:ext cx="73152" cy="32004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Calibri"/>
              </a:rPr>
              <a:t>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5029200" cy="2468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3 horas de despliegue manual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Pasos documentados en un correo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El experto es un punto unico de falla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Cada deploy es diferente al anterior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1920240"/>
            <a:ext cx="5486400" cy="3200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91072" y="1920240"/>
            <a:ext cx="73152" cy="3200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05740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CON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514600"/>
            <a:ext cx="5029200" cy="2468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git push y el robot hace el trabajo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El pipeline es la documentacion viva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Cualquier persona del equipo puede deployar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Cada deploy es identico al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349240"/>
            <a:ext cx="11365992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  <a:latin typeface="Calibri"/>
              </a:rPr>
              <a:t>Un pipeline CI/CD es un contrato: si el codigo pasa las reglas, llega a produccion.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4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EL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La App Corre en Localhost. ¿Y Ahora Que?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CCFBF1"/>
                </a:solidFill>
                <a:latin typeface="Consolas"/>
              </a:rPr>
              <a:t>$ uvicorn app.main:app --host 0.0.0.0 --port 5000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51760"/>
            <a:ext cx="11365992" cy="100584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651760"/>
            <a:ext cx="91440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889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C2410C"/>
                </a:solidFill>
                <a:latin typeface="Cambria"/>
              </a:rPr>
              <a:t>¿Como llega este codigo al mundo real?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840480"/>
            <a:ext cx="73152" cy="2148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400507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1. Infraestructura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434840"/>
            <a:ext cx="3392424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En que servidor, con que red y con que firewall.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4256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3840480"/>
            <a:ext cx="73152" cy="2148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400507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2. Configuracion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434840"/>
            <a:ext cx="3392424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Como instalar dependencias y arrancar automaticamente.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57031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57031" y="3840480"/>
            <a:ext cx="73152" cy="2148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3" y="400507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3. Automatizacion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3" y="4434840"/>
            <a:ext cx="3392424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Como hacer que todo pase solo con un git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5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LA SOLUCION  ·  INFRAESTRUCTURA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Terraform: Codigo que Construye Computadoras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77724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11000232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La analogia: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100023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Un chef escribe la receta en papel y cualquier cocinero replica el plato exacto. Terraform es la receta de tu infraestructura.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2880360"/>
            <a:ext cx="73152" cy="274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04495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Estado Remoto en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474720"/>
            <a:ext cx="3392424" cy="2057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El archivo tfstate vive en S3. Si muere tu computadora, la infraestructura sobrevive.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4256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6" y="2880360"/>
            <a:ext cx="73152" cy="27432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04495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Red Aislada (VPC)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474720"/>
            <a:ext cx="3392424" cy="2057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Subred publica para Nginx. Subred privada para la app. El backend es invisible desde internet.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57031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2880360"/>
            <a:ext cx="73152" cy="274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13063" y="304495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Instancias EC2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3" y="3474720"/>
            <a:ext cx="3392424" cy="2057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terraform apply y AWS construye servidores y firewalls en minutos. Reproducible en cualquier cuenta.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6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LA SOLUCION  ·  CI/CD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GitHub Actions: Los "Circulos Verdes" del Exito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11680"/>
            <a:ext cx="11365992" cy="9144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011680"/>
            <a:ext cx="9144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2410C"/>
                </a:solidFill>
                <a:latin typeface="Calibri"/>
              </a:rPr>
              <a:t>01  git 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21408"/>
            <a:ext cx="7863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El desarrollador hace push a main. El robot despierta automaticamente.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17520"/>
            <a:ext cx="11365992" cy="914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017520"/>
            <a:ext cx="91440" cy="914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127248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02  Job: infra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127248"/>
            <a:ext cx="7863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Terraform init, plan y apply. La nube se construye sola en ~5 minutos.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23360"/>
            <a:ext cx="11365992" cy="9144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23360"/>
            <a:ext cx="9144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133088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2410C"/>
                </a:solidFill>
                <a:latin typeface="Calibri"/>
              </a:rPr>
              <a:t>03  Job: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133088"/>
            <a:ext cx="7863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Ansible configura Nginx y FastAPI via ProxyJump por el frontend.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29200"/>
            <a:ext cx="11365992" cy="914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5029200"/>
            <a:ext cx="91440" cy="914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38928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04  Verificacion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138928"/>
            <a:ext cx="7863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curl confirma HTTP 200. Si falla, el pipeline se detiene. Sin ambiguedad.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9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Acceso Real: La URL Funciona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2926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956816"/>
            <a:ext cx="11146536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GET http://&lt;frontend_ip&gt;/  ·  HTTP 200 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212848"/>
            <a:ext cx="11365992" cy="217627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11091672" cy="2057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{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"mensaje": "Pipeline CI/CD exitoso!",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"flujo":   "Internet -&gt; Nginx (Puerto 80) -&gt; FastAPI (Puerto 5000)",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"estado":  "operativo"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572000"/>
            <a:ext cx="11365992" cy="105156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1000232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2410C"/>
                </a:solidFill>
                <a:latin typeface="Calibri"/>
              </a:rPr>
              <a:t>El "Aha!" moment: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11000232" cy="5029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Cambio una linea del codigo, hago git push, y el robot repite TODO el proceso de forma automatica. Eso es DevOps profesional.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10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¿QUE SIGUE?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De la Casita al Rascacielos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20240"/>
            <a:ext cx="1136599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334155"/>
                </a:solidFill>
                <a:latin typeface="Calibri"/>
              </a:rPr>
              <a:t>Hoy construimos una casita (EC2 + Nginx). La industria vive en rascacielos.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560320"/>
            <a:ext cx="73152" cy="31089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Ahora: EC2 + systemd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3392424" cy="2423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Una app por servidor. Control directo. Los fundamentos mas claros.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2560320"/>
            <a:ext cx="73152" cy="31089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72491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Siguiente: Docker + Kubernetes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154679"/>
            <a:ext cx="3392424" cy="2423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Contenedores orquestados. Escalado horizontal. Auto-healing. El estandar de la industria.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57031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57031" y="2560320"/>
            <a:ext cx="73152" cy="31089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13063" y="272491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Futuro: Service Mesh + GitOps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3" y="3154679"/>
            <a:ext cx="3392424" cy="2423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Istio, ArgoCD, auto-scaling. Los mismos principios en la escala de Netflix y Airbnb.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897880"/>
            <a:ext cx="1136599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  <a:latin typeface="Calibri"/>
              </a:rPr>
              <a:t>Los principios de hoy (IaC, CI/CD, aislamiento de red) son los mismos en cualquier escala.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7708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737360" cy="1963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463040"/>
            <a:ext cx="11274552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 i="0">
                <a:solidFill>
                  <a:srgbClr val="CCFBF1"/>
                </a:solidFill>
                <a:latin typeface="Consolas"/>
              </a:rPr>
              <a:t>github.com/ScrambledBits/masterclass-de_local_a_nube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800" b="1" i="0">
                <a:solidFill>
                  <a:srgbClr val="CCFBF1"/>
                </a:solidFill>
                <a:latin typeface="Cambria"/>
              </a:rPr>
              <a:t>"Un git push separa a los que hablan de DevOps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74552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800" b="1" i="0">
                <a:solidFill>
                  <a:srgbClr val="FED7AA"/>
                </a:solidFill>
                <a:latin typeface="Cambria"/>
              </a:rPr>
              <a:t>de los que lo practican."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Preguntas: chat en vivo o GitHub @ScrambledBits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Emilio Castro  ·  Ingeniero de Plataforma  ·  @ScrambledBits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2179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v1 · 2026-06-25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7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ARQUITECTURA  ·  FLUJO DEL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¿Como Llega el Codigo a Produccion?</a:t>
            </a:r>
          </a:p>
        </p:txBody>
      </p:sp>
      <p:pic>
        <p:nvPicPr>
          <p:cNvPr id="8" name="Picture 7" descr="pipelin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331720"/>
            <a:ext cx="10972800" cy="34838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8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ARQUITECTURA  ·  RED INTERIOR 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¿Que Construyo el Robot en AWS?</a:t>
            </a:r>
          </a:p>
        </p:txBody>
      </p:sp>
      <p:pic>
        <p:nvPicPr>
          <p:cNvPr id="8" name="Picture 7" descr="cloud_in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606040"/>
            <a:ext cx="10972800" cy="28712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